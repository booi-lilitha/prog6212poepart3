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13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12B421-C37D-5F52-A842-DB017FBF8016}" v="46" dt="2025-11-22T16:51:34.905"/>
    <p1510:client id="{C2F9D403-6963-A7A9-BCEC-3CDEB7B69BB7}" v="196" dt="2025-11-21T19:01:31.3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372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538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381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421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646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99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9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291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00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777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823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0155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5559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1448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0577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5292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148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687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1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Contract Monthly Claim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Streamlining Monthly Claim Submission and Approval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By Lilitha Booi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52041-5FE2-91F6-0C6C-F93276DF4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System Overview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8056B-CAEF-E9CF-F3E9-1286DB59A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753773" cy="412079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ea typeface="+mn-lt"/>
                <a:cs typeface="+mn-lt"/>
              </a:rPr>
              <a:t>The Contract Monthly Claim System is designed to automate the process of submitting and approving monthly claims for contract lecturers.</a:t>
            </a:r>
          </a:p>
          <a:p>
            <a:r>
              <a:rPr lang="en-US" dirty="0">
                <a:ea typeface="+mn-lt"/>
                <a:cs typeface="+mn-lt"/>
              </a:rPr>
              <a:t>Roles:</a:t>
            </a:r>
          </a:p>
          <a:p>
            <a:pPr lvl="1"/>
            <a:r>
              <a:rPr lang="en-US" sz="2800" dirty="0">
                <a:ea typeface="+mn-lt"/>
                <a:cs typeface="+mn-lt"/>
              </a:rPr>
              <a:t>HR: Manages user accounts and sets hourly rates.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2800" dirty="0">
                <a:ea typeface="+mn-lt"/>
                <a:cs typeface="+mn-lt"/>
              </a:rPr>
              <a:t>Lecturer: Submits monthly claims with hours worked and supporting documents.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2800" dirty="0">
                <a:ea typeface="+mn-lt"/>
                <a:cs typeface="+mn-lt"/>
              </a:rPr>
              <a:t>Coordinator: Reviews and approves claims submitted by lecturers.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2800" dirty="0">
                <a:ea typeface="+mn-lt"/>
                <a:cs typeface="+mn-lt"/>
              </a:rPr>
              <a:t>Manager: Provides final approval for claims.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229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5A131-9981-F8EC-3D56-EFD9697B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Database</a:t>
            </a:r>
            <a:r>
              <a:rPr lang="en-US" b="1" dirty="0">
                <a:ea typeface="+mj-lt"/>
                <a:cs typeface="+mj-lt"/>
              </a:rPr>
              <a:t> Design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FAFC7-2ACA-0DA4-A4AE-8F6338E80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918339" cy="414954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Entities:</a:t>
            </a:r>
          </a:p>
          <a:p>
            <a:pPr lvl="1"/>
            <a:r>
              <a:rPr lang="en-US" sz="2800" dirty="0">
                <a:ea typeface="+mn-lt"/>
                <a:cs typeface="+mn-lt"/>
              </a:rPr>
              <a:t>User: Stores user details and role.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2800" dirty="0">
                <a:ea typeface="+mn-lt"/>
                <a:cs typeface="+mn-lt"/>
              </a:rPr>
              <a:t>Claim: Main claim header with total amount and status.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2800" dirty="0" err="1">
                <a:ea typeface="+mn-lt"/>
                <a:cs typeface="+mn-lt"/>
              </a:rPr>
              <a:t>ClaimItem</a:t>
            </a:r>
            <a:r>
              <a:rPr lang="en-US" sz="2800" dirty="0">
                <a:ea typeface="+mn-lt"/>
                <a:cs typeface="+mn-lt"/>
              </a:rPr>
              <a:t>: Breakdown of hours and rate for each claim.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2800" dirty="0">
                <a:ea typeface="+mn-lt"/>
                <a:cs typeface="+mn-lt"/>
              </a:rPr>
              <a:t>Document: Supporting documents for claims.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Relationships:</a:t>
            </a:r>
          </a:p>
          <a:p>
            <a:pPr lvl="1"/>
            <a:r>
              <a:rPr lang="en-US" sz="2800" dirty="0">
                <a:ea typeface="+mn-lt"/>
                <a:cs typeface="+mn-lt"/>
              </a:rPr>
              <a:t>User to Claim (One-to-Many)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2800" dirty="0">
                <a:ea typeface="+mn-lt"/>
                <a:cs typeface="+mn-lt"/>
              </a:rPr>
              <a:t>Claim to </a:t>
            </a:r>
            <a:r>
              <a:rPr lang="en-US" sz="2800" dirty="0" err="1">
                <a:ea typeface="+mn-lt"/>
                <a:cs typeface="+mn-lt"/>
              </a:rPr>
              <a:t>ClaimItem</a:t>
            </a:r>
            <a:r>
              <a:rPr lang="en-US" sz="2800" dirty="0">
                <a:ea typeface="+mn-lt"/>
                <a:cs typeface="+mn-lt"/>
              </a:rPr>
              <a:t> (One-to-Many)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2800" dirty="0">
                <a:ea typeface="+mn-lt"/>
                <a:cs typeface="+mn-lt"/>
              </a:rPr>
              <a:t>Claim to Document (One-to-Many)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37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06912-ED66-C36B-6049-4CBA2037E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b="1" dirty="0">
                <a:ea typeface="+mj-lt"/>
                <a:cs typeface="+mj-lt"/>
              </a:rPr>
              <a:t>HR Portal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3B424-7FD8-690A-597B-7EB34DCE3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727" y="5119537"/>
            <a:ext cx="10651584" cy="1360339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Features:</a:t>
            </a:r>
            <a:endParaRPr lang="en-US"/>
          </a:p>
          <a:p>
            <a:pPr lvl="1"/>
            <a:r>
              <a:rPr lang="en-US" sz="2800" dirty="0">
                <a:ea typeface="+mn-lt"/>
                <a:cs typeface="+mn-lt"/>
              </a:rPr>
              <a:t>Create new users (Lecturers, Coordinators, Managers, HR)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2800" dirty="0">
                <a:ea typeface="+mn-lt"/>
                <a:cs typeface="+mn-lt"/>
              </a:rPr>
              <a:t>Edit existing user details, including hourly rate for lecturers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2800" dirty="0">
                <a:ea typeface="+mn-lt"/>
                <a:cs typeface="+mn-lt"/>
              </a:rPr>
              <a:t>Delete users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1D5923-8667-2DBE-C286-F2177484B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265" y="2121925"/>
            <a:ext cx="7260567" cy="291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617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001EF-0B35-67EA-18B4-A7E81C044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b="1" dirty="0">
                <a:ea typeface="+mj-lt"/>
                <a:cs typeface="+mj-lt"/>
              </a:rPr>
              <a:t> Lecturer Portal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11D38-5920-0D5B-C93A-BA413B40D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784" y="4328783"/>
            <a:ext cx="8768150" cy="2237357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Features:</a:t>
            </a:r>
          </a:p>
          <a:p>
            <a:pPr lvl="1"/>
            <a:r>
              <a:rPr lang="en-US" sz="2800" dirty="0">
                <a:ea typeface="+mn-lt"/>
                <a:cs typeface="+mn-lt"/>
              </a:rPr>
              <a:t>Auto-calculation of claim amount based on hours and HR-set rate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2800" dirty="0">
                <a:ea typeface="+mn-lt"/>
                <a:cs typeface="+mn-lt"/>
              </a:rPr>
              <a:t>Validation: Total hours cannot exceed 180 per month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2800" dirty="0">
                <a:ea typeface="+mn-lt"/>
                <a:cs typeface="+mn-lt"/>
              </a:rPr>
              <a:t>Document upload (multiple files)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  <p:pic>
        <p:nvPicPr>
          <p:cNvPr id="4" name="Picture 3" descr="A screenshot of a pink and white striped background&#10;&#10;AI-generated content may be incorrect.">
            <a:extLst>
              <a:ext uri="{FF2B5EF4-FFF2-40B4-BE49-F238E27FC236}">
                <a16:creationId xmlns:a16="http://schemas.microsoft.com/office/drawing/2014/main" id="{15869F70-5C23-B226-1B35-BE4995C87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93" y="2371115"/>
            <a:ext cx="5837208" cy="2460825"/>
          </a:xfrm>
          <a:prstGeom prst="rect">
            <a:avLst/>
          </a:prstGeom>
        </p:spPr>
      </p:pic>
      <p:pic>
        <p:nvPicPr>
          <p:cNvPr id="5" name="Picture 4" descr="A screenshot of a pink screen&#10;&#10;AI-generated content may be incorrect.">
            <a:extLst>
              <a:ext uri="{FF2B5EF4-FFF2-40B4-BE49-F238E27FC236}">
                <a16:creationId xmlns:a16="http://schemas.microsoft.com/office/drawing/2014/main" id="{46458E66-9894-335E-12E2-075F4FD91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594" y="2245314"/>
            <a:ext cx="5837208" cy="271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083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96259-3E8C-E845-E0C5-5ABDA67D4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 Coordinator Portal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0F3F6-8460-0328-AF99-D7979D95C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4486933"/>
            <a:ext cx="8768150" cy="153286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Features:</a:t>
            </a:r>
          </a:p>
          <a:p>
            <a:pPr lvl="1"/>
            <a:r>
              <a:rPr lang="en-US" sz="2800" dirty="0">
                <a:ea typeface="+mn-lt"/>
                <a:cs typeface="+mn-lt"/>
              </a:rPr>
              <a:t>View claim details, items, and documents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2800" dirty="0">
                <a:ea typeface="+mn-lt"/>
                <a:cs typeface="+mn-lt"/>
              </a:rPr>
              <a:t>Approve or reject claims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  <p:pic>
        <p:nvPicPr>
          <p:cNvPr id="4" name="Picture 3" descr="A screenshot of a pink and black screen&#10;&#10;AI-generated content may be incorrect.">
            <a:extLst>
              <a:ext uri="{FF2B5EF4-FFF2-40B4-BE49-F238E27FC236}">
                <a16:creationId xmlns:a16="http://schemas.microsoft.com/office/drawing/2014/main" id="{33021743-FB34-365F-6B8A-7B9B1255D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093" y="2128426"/>
            <a:ext cx="8396378" cy="258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447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E3803-CAF5-ECEB-051C-A7007781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a typeface="+mj-lt"/>
                <a:cs typeface="+mj-lt"/>
              </a:rPr>
              <a:t>Manager Portal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161D0-4F67-6067-6EE1-7C1BD59A3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4156254"/>
            <a:ext cx="8768150" cy="186354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Features:</a:t>
            </a:r>
          </a:p>
          <a:p>
            <a:pPr lvl="1"/>
            <a:r>
              <a:rPr lang="en-US" sz="2800" dirty="0">
                <a:ea typeface="+mn-lt"/>
                <a:cs typeface="+mn-lt"/>
              </a:rPr>
              <a:t>Final approval of claims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2800" dirty="0">
                <a:ea typeface="+mn-lt"/>
                <a:cs typeface="+mn-lt"/>
              </a:rPr>
              <a:t>View claim details, items, and documents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76B6D8-CBAE-ED0C-58B3-BF7858986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30" y="2290521"/>
            <a:ext cx="11185586" cy="214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350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FFA90-A17F-BCB2-4B49-BE4D15C26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a typeface="+mj-lt"/>
                <a:cs typeface="+mj-lt"/>
              </a:rPr>
              <a:t>Login and Session Management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03CE2-B7C0-9187-D14B-DB34639E6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31" y="3868707"/>
            <a:ext cx="8825659" cy="2438640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How it works:</a:t>
            </a:r>
          </a:p>
          <a:p>
            <a:pPr lvl="1"/>
            <a:r>
              <a:rPr lang="en-US" sz="2800" dirty="0">
                <a:ea typeface="+mn-lt"/>
                <a:cs typeface="+mn-lt"/>
              </a:rPr>
              <a:t>Users log in with credentials provided by HR.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2800" dirty="0">
                <a:ea typeface="+mn-lt"/>
                <a:cs typeface="+mn-lt"/>
              </a:rPr>
              <a:t>Session variables store username and role.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2800" dirty="0">
                <a:ea typeface="+mn-lt"/>
                <a:cs typeface="+mn-lt"/>
              </a:rPr>
              <a:t>Redirects to appropriate portal based on role.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8DACDA-68E6-5186-011F-C9B644ECD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131" y="2015211"/>
            <a:ext cx="5477775" cy="2079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325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13B9A-1007-E717-C319-232CDE01E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a typeface="+mj-lt"/>
                <a:cs typeface="+mj-lt"/>
              </a:rPr>
              <a:t>Technical Stack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B7458-F737-6054-2F39-67432A402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Backend: ASP.NET Core MVC</a:t>
            </a:r>
          </a:p>
          <a:p>
            <a:r>
              <a:rPr lang="en-US" dirty="0">
                <a:ea typeface="+mn-lt"/>
                <a:cs typeface="+mn-lt"/>
              </a:rPr>
              <a:t>Database: SQL Server with Entity Framework Core</a:t>
            </a:r>
          </a:p>
          <a:p>
            <a:r>
              <a:rPr lang="en-US" dirty="0">
                <a:ea typeface="+mn-lt"/>
                <a:cs typeface="+mn-lt"/>
              </a:rPr>
              <a:t>Frontend: Bootstrap, JavaScript</a:t>
            </a:r>
          </a:p>
          <a:p>
            <a:r>
              <a:rPr lang="en-US" dirty="0">
                <a:ea typeface="+mn-lt"/>
                <a:cs typeface="+mn-lt"/>
              </a:rPr>
              <a:t>Authentication: Session-based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944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96064-38B4-C7A0-C925-32F54C7E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a typeface="+mj-lt"/>
                <a:cs typeface="+mj-lt"/>
              </a:rPr>
              <a:t>Conclusion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C35C8-68F5-6288-8FA8-FDB11E056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753773" cy="407765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Benefits:</a:t>
            </a:r>
          </a:p>
          <a:p>
            <a:pPr lvl="1"/>
            <a:r>
              <a:rPr lang="en-US" sz="2800" dirty="0">
                <a:ea typeface="+mn-lt"/>
                <a:cs typeface="+mn-lt"/>
              </a:rPr>
              <a:t>Streamlined claim process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2800" dirty="0">
                <a:ea typeface="+mn-lt"/>
                <a:cs typeface="+mn-lt"/>
              </a:rPr>
              <a:t>Reduced paperwork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2800" dirty="0">
                <a:ea typeface="+mn-lt"/>
                <a:cs typeface="+mn-lt"/>
              </a:rPr>
              <a:t>Faster approvals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Future Enhancements:</a:t>
            </a:r>
          </a:p>
          <a:p>
            <a:pPr lvl="1"/>
            <a:r>
              <a:rPr lang="en-US" sz="2800" dirty="0">
                <a:ea typeface="+mn-lt"/>
                <a:cs typeface="+mn-lt"/>
              </a:rPr>
              <a:t>Password hashing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2800" dirty="0">
                <a:ea typeface="+mn-lt"/>
                <a:cs typeface="+mn-lt"/>
              </a:rPr>
              <a:t>Email notifications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2800" dirty="0">
                <a:ea typeface="+mn-lt"/>
                <a:cs typeface="+mn-lt"/>
              </a:rPr>
              <a:t>PDF report generation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9888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Ion Boardroom</vt:lpstr>
      <vt:lpstr>Contract Monthly Claim System</vt:lpstr>
      <vt:lpstr>System Overview</vt:lpstr>
      <vt:lpstr>Database Design</vt:lpstr>
      <vt:lpstr> HR Portal</vt:lpstr>
      <vt:lpstr>  Lecturer Portal</vt:lpstr>
      <vt:lpstr> Coordinator Portal</vt:lpstr>
      <vt:lpstr>Manager Portal</vt:lpstr>
      <vt:lpstr>Login and Session Management</vt:lpstr>
      <vt:lpstr>Technical Stack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144</cp:revision>
  <dcterms:created xsi:type="dcterms:W3CDTF">2025-11-21T16:14:15Z</dcterms:created>
  <dcterms:modified xsi:type="dcterms:W3CDTF">2025-11-22T16:52:15Z</dcterms:modified>
</cp:coreProperties>
</file>